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640080"/>
            <a:ext cx="3108960" cy="3108960"/>
          </a:xfrm>
          <a:prstGeom prst="ellipse">
            <a:avLst/>
          </a:prstGeom>
          <a:solidFill>
            <a:srgbClr val="5B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212080"/>
            <a:ext cx="2834640" cy="2834640"/>
          </a:xfrm>
          <a:prstGeom prst="ellipse">
            <a:avLst/>
          </a:prstGeom>
          <a:solidFill>
            <a:srgbClr val="967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120640"/>
            <a:ext cx="2560320" cy="2560320"/>
          </a:xfrm>
          <a:prstGeom prst="ellipse">
            <a:avLst/>
          </a:prstGeom>
          <a:solidFill>
            <a:srgbClr val="52B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67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658368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674D6"/>
                </a:solidFill>
                <a:latin typeface="Aptos"/>
              </a:defRPr>
            </a:pPr>
            <a:r>
              <a:t>ALGORITHM DESIGN • UNIT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9418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344164"/>
                </a:solidFill>
                <a:latin typeface="Aptos"/>
              </a:defRPr>
            </a:pPr>
            <a:r>
              <a:t>DYNAMIC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87168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667089"/>
                </a:solidFill>
                <a:latin typeface="Aptos"/>
              </a:defRPr>
            </a:pPr>
            <a:r>
              <a:t>A study of efficient problem-solving using stored subproblems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246120"/>
            <a:ext cx="57150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547872"/>
            <a:ext cx="4892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52D46"/>
                </a:solidFill>
                <a:latin typeface="Aptos"/>
              </a:defRPr>
            </a:pPr>
            <a:r>
              <a:t>Name – Chandni Amesar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86783"/>
            <a:ext cx="4892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52D46"/>
                </a:solidFill>
                <a:latin typeface="Aptos"/>
              </a:defRPr>
            </a:pPr>
            <a:r>
              <a:t>PRN – 25070521218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425696"/>
            <a:ext cx="4892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52D46"/>
                </a:solidFill>
                <a:latin typeface="Aptos"/>
              </a:defRPr>
            </a:pPr>
            <a:r>
              <a:t>Semester –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64608"/>
            <a:ext cx="4892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52D46"/>
                </a:solidFill>
                <a:latin typeface="Aptos"/>
              </a:defRPr>
            </a:pPr>
            <a:r>
              <a:t>Section –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98932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667089"/>
                </a:solidFill>
                <a:latin typeface="Aptos"/>
              </a:defRPr>
            </a:pPr>
            <a:r>
              <a:t>Dynamic Programming • 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/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1. What is Dynamic Programming?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Solve smaller problems once, store their answers, and reuse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73152" cy="1417320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The 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4828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Dynamic Programming (DP) is a technique for solving problems by breaking them into smaller subproblems and storing their results so the same work is not repeated.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483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Overlapping subproblems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867911"/>
            <a:ext cx="2130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The same smaller problem appears again and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33756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3337560"/>
            <a:ext cx="73152" cy="1508760"/>
          </a:xfrm>
          <a:prstGeom prst="rect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3483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Optimal substructure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867911"/>
            <a:ext cx="2130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An optimal solution can be built from optimal solutions to smaller parts.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33756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337560"/>
            <a:ext cx="73152" cy="1508760"/>
          </a:xfrm>
          <a:prstGeom prst="rect">
            <a:avLst/>
          </a:prstGeom>
          <a:solidFill>
            <a:srgbClr val="F5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3483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State + transition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867911"/>
            <a:ext cx="2130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Define what each DP cell means, then define how it is computed.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6276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AD2"/>
                </a:solidFill>
                <a:latin typeface="Aptos"/>
              </a:defRPr>
            </a:pPr>
            <a:r>
              <a:rPr>
                <a:solidFill/>
              </a:rPr>
              <a:t>WHY DP?</a:t>
            </a:r>
          </a:p>
        </p:txBody>
      </p:sp>
      <p:sp>
        <p:nvSpPr>
          <p:cNvPr id="26" name="Oval 25"/>
          <p:cNvSpPr/>
          <p:nvPr/>
        </p:nvSpPr>
        <p:spPr>
          <a:xfrm>
            <a:off x="9372600" y="2103120"/>
            <a:ext cx="640080" cy="640080"/>
          </a:xfrm>
          <a:prstGeom prst="ellipse">
            <a:avLst/>
          </a:prstGeom>
          <a:solidFill>
            <a:srgbClr val="F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282342"/>
            <a:ext cx="585215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F</a:t>
            </a:r>
          </a:p>
        </p:txBody>
      </p:sp>
      <p:sp>
        <p:nvSpPr>
          <p:cNvPr id="28" name="Oval 27"/>
          <p:cNvSpPr/>
          <p:nvPr/>
        </p:nvSpPr>
        <p:spPr>
          <a:xfrm>
            <a:off x="8458200" y="3063240"/>
            <a:ext cx="594360" cy="594360"/>
          </a:xfrm>
          <a:prstGeom prst="ellipse">
            <a:avLst/>
          </a:prstGeom>
          <a:solidFill>
            <a:srgbClr val="F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3229660"/>
            <a:ext cx="539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10378440" y="3063240"/>
            <a:ext cx="594360" cy="594360"/>
          </a:xfrm>
          <a:prstGeom prst="ellipse">
            <a:avLst/>
          </a:prstGeom>
          <a:solidFill>
            <a:srgbClr val="F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5872" y="3229660"/>
            <a:ext cx="539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F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732520" y="2724912"/>
            <a:ext cx="960120" cy="338328"/>
          </a:xfrm>
          <a:prstGeom prst="line">
            <a:avLst/>
          </a:prstGeom>
          <a:ln w="1905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92640" y="2724912"/>
            <a:ext cx="777240" cy="338328"/>
          </a:xfrm>
          <a:prstGeom prst="line">
            <a:avLst/>
          </a:prstGeom>
          <a:ln w="1905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Naive recursion repeats work.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4754880"/>
            <a:ext cx="2468880" cy="347472"/>
          </a:xfrm>
          <a:prstGeom prst="roundRect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764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DP stores the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2. Two Ways to Build a DP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Both approaches avoid repeated computation; they differ in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45920"/>
            <a:ext cx="73152" cy="3429000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9222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TOP-DOWN • MEMOIZATION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76272"/>
            <a:ext cx="487375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Start with the original problem and recursively break it down.</a:t>
            </a:r>
            <a:br/>
            <a:br/>
            <a:r>
              <a:rPr>
                <a:solidFill/>
              </a:rPr>
              <a:t>✓ If a state is already solved → reuse it.</a:t>
            </a:r>
            <a:br/>
            <a:r>
              <a:rPr>
                <a:solidFill/>
              </a:rPr>
              <a:t>✓ If not → compute it and store it.</a:t>
            </a:r>
            <a:br/>
            <a:br/>
            <a:r>
              <a:rPr>
                <a:solidFill/>
              </a:rPr>
              <a:t>Best when only a fraction of states are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73152" cy="3429000"/>
          </a:xfrm>
          <a:prstGeom prst="rect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79222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BOTTOM-UP • TABULATION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76272"/>
            <a:ext cx="487375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Start from the smallest known states and build upward using a table.</a:t>
            </a:r>
            <a:br/>
            <a:br/>
            <a:r>
              <a:rPr>
                <a:solidFill/>
              </a:rPr>
              <a:t>✓ No recursion stack.</a:t>
            </a:r>
            <a:br/>
            <a:r>
              <a:rPr>
                <a:solidFill/>
              </a:rPr>
              <a:t>✓ Easy to see the full DP table.</a:t>
            </a:r>
            <a:br/>
            <a:br/>
            <a:r>
              <a:rPr>
                <a:solidFill/>
              </a:rPr>
              <a:t>Best when most states are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49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Original → smaller → memoized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49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Base cases → table → final answer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715000"/>
            <a:ext cx="411480" cy="411480"/>
          </a:xfrm>
          <a:prstGeom prst="ellipse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830214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P</a:t>
            </a:r>
          </a:p>
        </p:txBody>
      </p:sp>
      <p:sp>
        <p:nvSpPr>
          <p:cNvPr id="21" name="Oval 20"/>
          <p:cNvSpPr/>
          <p:nvPr/>
        </p:nvSpPr>
        <p:spPr>
          <a:xfrm>
            <a:off x="2240280" y="5715000"/>
            <a:ext cx="411480" cy="41148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5830214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</a:t>
            </a:r>
          </a:p>
        </p:txBody>
      </p:sp>
      <p:sp>
        <p:nvSpPr>
          <p:cNvPr id="23" name="Oval 22"/>
          <p:cNvSpPr/>
          <p:nvPr/>
        </p:nvSpPr>
        <p:spPr>
          <a:xfrm>
            <a:off x="3566160" y="5715000"/>
            <a:ext cx="411480" cy="411480"/>
          </a:xfrm>
          <a:prstGeom prst="ellipse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1" y="5830214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5715000"/>
            <a:ext cx="411480" cy="41148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5830214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7726679" y="5715000"/>
            <a:ext cx="411480" cy="41148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1" y="5830214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9052560" y="5715000"/>
            <a:ext cx="411480" cy="411480"/>
          </a:xfrm>
          <a:prstGeom prst="ellipse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5830214"/>
            <a:ext cx="3566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3. How a DP Solution is Designed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A repeatable 5-step workflow you can use in many problems.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13219"/>
            <a:ext cx="512064" cy="2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Define the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27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What does dp[i] or dp[i][j] represent?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0704" y="2121408"/>
            <a:ext cx="0" cy="338328"/>
          </a:xfrm>
          <a:prstGeom prst="line">
            <a:avLst/>
          </a:prstGeom>
          <a:ln w="19050">
            <a:solidFill>
              <a:srgbClr val="37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77240" y="2468880"/>
            <a:ext cx="566928" cy="566928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27619"/>
            <a:ext cx="512064" cy="2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50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Find base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414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What are the smallest / simplest answers?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0704" y="3035808"/>
            <a:ext cx="0" cy="338328"/>
          </a:xfrm>
          <a:prstGeom prst="line">
            <a:avLst/>
          </a:prstGeom>
          <a:ln w="19050">
            <a:solidFill>
              <a:srgbClr val="37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77240" y="3383280"/>
            <a:ext cx="566928" cy="566928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42019"/>
            <a:ext cx="512064" cy="2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64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Write the 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3558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How does the current state depend on earlier states?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60704" y="3950208"/>
            <a:ext cx="0" cy="338328"/>
          </a:xfrm>
          <a:prstGeom prst="line">
            <a:avLst/>
          </a:prstGeom>
          <a:ln w="19050">
            <a:solidFill>
              <a:srgbClr val="37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77240" y="4297680"/>
            <a:ext cx="566928" cy="566928"/>
          </a:xfrm>
          <a:prstGeom prst="ellipse">
            <a:avLst/>
          </a:prstGeom>
          <a:solidFill>
            <a:srgbClr val="F5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456419"/>
            <a:ext cx="512064" cy="2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79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Choose an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702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Top-down recursion or bottom-up table?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0704" y="4864608"/>
            <a:ext cx="0" cy="338328"/>
          </a:xfrm>
          <a:prstGeom prst="line">
            <a:avLst/>
          </a:prstGeom>
          <a:ln w="19050">
            <a:solidFill>
              <a:srgbClr val="37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77240" y="5212080"/>
            <a:ext cx="566928" cy="566928"/>
          </a:xfrm>
          <a:prstGeom prst="ellipse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370819"/>
            <a:ext cx="512064" cy="2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Read the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84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Which cell/state contains the final optimum?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1645920"/>
            <a:ext cx="3749039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59" y="1792224"/>
            <a:ext cx="33832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DAD2"/>
                </a:solidFill>
                <a:latin typeface="Aptos"/>
              </a:defRPr>
            </a:pPr>
            <a:r>
              <a:rPr>
                <a:solidFill/>
              </a:rPr>
              <a:t>dp[state] = best answer</a:t>
            </a:r>
            <a:br/>
            <a:r>
              <a:rPr>
                <a:solidFill/>
              </a:rPr>
              <a:t>for this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4. Main Example: 0/1 Knapsack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Each item is either completely selected (1) or completely skipped (0).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73152" cy="4434840"/>
          </a:xfrm>
          <a:prstGeom prst="rect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0078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84831"/>
            <a:ext cx="3502152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Capacity = 4</a:t>
            </a:r>
            <a:br/>
            <a:br/>
            <a:r>
              <a:rPr>
                <a:solidFill/>
              </a:rPr>
              <a:t>Item 1 → value 1, weight 4</a:t>
            </a:r>
            <a:br/>
            <a:r>
              <a:rPr>
                <a:solidFill/>
              </a:rPr>
              <a:t>Item 2 → value 2, weight 5</a:t>
            </a:r>
            <a:br/>
            <a:r>
              <a:rPr>
                <a:solidFill/>
              </a:rPr>
              <a:t>Item 3 → value 3, weight 1</a:t>
            </a:r>
            <a:br/>
            <a:br/>
            <a:r>
              <a:rPr>
                <a:solidFill/>
              </a:rPr>
              <a:t>Goal: maximize total value without exceeding capacity.</a:t>
            </a:r>
            <a:br/>
            <a:br/>
            <a:r>
              <a:rPr>
                <a:solidFill/>
              </a:rPr>
              <a:t>Answer: choose Item 3 → value =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737360"/>
            <a:ext cx="1828800" cy="347472"/>
          </a:xfrm>
          <a:prstGeom prst="round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7465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ITEM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737360"/>
            <a:ext cx="1828800" cy="347472"/>
          </a:xfrm>
          <a:prstGeom prst="roundRect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7465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ITEM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37360"/>
            <a:ext cx="1828800" cy="347472"/>
          </a:xfrm>
          <a:prstGeom prst="roundRect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7465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ITEM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24028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2240280"/>
            <a:ext cx="73152" cy="1417320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23865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Value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7" y="2770632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Weight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24028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2240280"/>
            <a:ext cx="73152" cy="1417320"/>
          </a:xfrm>
          <a:prstGeom prst="rect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23865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Value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770632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Weight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24028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2240280"/>
            <a:ext cx="73152" cy="1417320"/>
          </a:xfrm>
          <a:prstGeom prst="rect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8" y="23865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Value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2770632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Weight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977639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At every item, ask:</a:t>
            </a:r>
          </a:p>
        </p:txBody>
      </p:sp>
      <p:sp>
        <p:nvSpPr>
          <p:cNvPr id="32" name="Oval 31"/>
          <p:cNvSpPr/>
          <p:nvPr/>
        </p:nvSpPr>
        <p:spPr>
          <a:xfrm>
            <a:off x="5074920" y="4526280"/>
            <a:ext cx="777240" cy="777240"/>
          </a:xfrm>
          <a:prstGeom prst="ellipse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4743907"/>
            <a:ext cx="722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TAKE</a:t>
            </a:r>
          </a:p>
        </p:txBody>
      </p:sp>
      <p:sp>
        <p:nvSpPr>
          <p:cNvPr id="34" name="Oval 33"/>
          <p:cNvSpPr/>
          <p:nvPr/>
        </p:nvSpPr>
        <p:spPr>
          <a:xfrm>
            <a:off x="7406640" y="4526280"/>
            <a:ext cx="777240" cy="777240"/>
          </a:xfrm>
          <a:prstGeom prst="ellipse">
            <a:avLst/>
          </a:prstGeom>
          <a:solidFill>
            <a:srgbClr val="F5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1" y="4743907"/>
            <a:ext cx="722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SKIP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70448" y="4910328"/>
            <a:ext cx="1490472" cy="0"/>
          </a:xfrm>
          <a:prstGeom prst="line">
            <a:avLst/>
          </a:prstGeom>
          <a:ln w="25400">
            <a:solidFill>
              <a:srgbClr val="B1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09160" y="54406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Take it only if its weight fits the remaining capacity.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5. 0/1 Knapsack — DP Table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dp[i][w] = maximum value using the first i items with capacity 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914400" cy="621792"/>
          </a:xfrm>
          <a:prstGeom prst="rect">
            <a:avLst/>
          </a:prstGeom>
          <a:solidFill>
            <a:srgbClr val="9763FF"/>
          </a:solidFill>
          <a:ln>
            <a:solidFill>
              <a:srgbClr val="37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1109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i\w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783080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91109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783080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91109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783080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91109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783080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91109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783080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1109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404872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532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2404872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2532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2404872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2532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404872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532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404872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532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026664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3026664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3026664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3026664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026664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3648456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776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200" y="3648456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3776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4600" y="3648456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3776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29000" y="3648456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3776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400" y="3648456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3776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270248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398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4270248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00200" y="4398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14600" y="4270248"/>
            <a:ext cx="914400" cy="621792"/>
          </a:xfrm>
          <a:prstGeom prst="rect">
            <a:avLst/>
          </a:prstGeom>
          <a:solidFill>
            <a:srgbClr val="194B46"/>
          </a:solidFill>
          <a:ln>
            <a:solidFill>
              <a:srgbClr val="37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14600" y="4398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29000" y="4270248"/>
            <a:ext cx="914400" cy="621792"/>
          </a:xfrm>
          <a:prstGeom prst="rect">
            <a:avLst/>
          </a:prstGeom>
          <a:solidFill>
            <a:srgbClr val="194B46"/>
          </a:solidFill>
          <a:ln>
            <a:solidFill>
              <a:srgbClr val="37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29000" y="4398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3400" y="4270248"/>
            <a:ext cx="914400" cy="621792"/>
          </a:xfrm>
          <a:prstGeom prst="rect">
            <a:avLst/>
          </a:prstGeom>
          <a:solidFill>
            <a:srgbClr val="48D291"/>
          </a:solidFill>
          <a:ln>
            <a:solidFill>
              <a:srgbClr val="37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400" y="4398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Why is the final answer 3?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0749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●  Item 1 fits at capacity 4, giving value 1.</a:t>
            </a:r>
          </a:p>
          <a:p>
            <a:pPr>
              <a:spcAft>
                <a:spcPts val="1000"/>
              </a:spcAft>
              <a:defRPr sz="11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●  Item 2 is too heavy (weight 5).</a:t>
            </a:r>
          </a:p>
          <a:p>
            <a:pPr>
              <a:spcAft>
                <a:spcPts val="1000"/>
              </a:spcAft>
              <a:defRPr sz="11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●  Item 3 fits and gives value 3 → best.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15000" y="1828800"/>
            <a:ext cx="5486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80" y="1975104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DDAD2"/>
                </a:solidFill>
                <a:latin typeface="Aptos"/>
              </a:defRPr>
            </a:pPr>
            <a:r>
              <a:rPr>
                <a:solidFill/>
              </a:rPr>
              <a:t>if weight[i-1] &lt;= w:</a:t>
            </a:r>
            <a:br/>
            <a:r>
              <a:rPr>
                <a:solidFill/>
              </a:rPr>
              <a:t>    dp[i][w] = max(</a:t>
            </a:r>
            <a:br/>
            <a:r>
              <a:rPr>
                <a:solidFill/>
              </a:rPr>
              <a:t>        value[i-1] + dp[i-1][w-weight[i-1]],</a:t>
            </a:r>
            <a:br/>
            <a:r>
              <a:rPr>
                <a:solidFill/>
              </a:rPr>
              <a:t>        dp[i-1][w]</a:t>
            </a:r>
            <a:br/>
            <a:r>
              <a:rPr>
                <a:solidFill/>
              </a:rPr>
              <a:t>    )</a:t>
            </a:r>
            <a:br/>
            <a:r>
              <a:rPr>
                <a:solidFill/>
              </a:rPr>
              <a:t>else: dp[i][w] = dp[i-1][w]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15000" y="406908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15000" y="4069080"/>
            <a:ext cx="73152" cy="1280160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16168" y="42153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Time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16168" y="4599432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O(n × W)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58200" y="406908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58200" y="4069080"/>
            <a:ext cx="73152" cy="1280160"/>
          </a:xfrm>
          <a:prstGeom prst="rect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59368" y="4215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Space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59368" y="4599432"/>
            <a:ext cx="2359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O(n × W)</a:t>
            </a:r>
            <a:br/>
            <a:r>
              <a:rPr>
                <a:solidFill/>
              </a:rPr>
              <a:t>(can be optimized)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F5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6. Where Dynamic Programming is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DP appears whenever the same choices/subproblems repeat.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46504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Knapsack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30552"/>
            <a:ext cx="2679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Budget / capacity allocation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60020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600200"/>
            <a:ext cx="73152" cy="1600200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746504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Shortest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130552"/>
            <a:ext cx="2679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Best route under constraints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60020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1600200"/>
            <a:ext cx="73152" cy="1600200"/>
          </a:xfrm>
          <a:prstGeom prst="rect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1746504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Sequence 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2130552"/>
            <a:ext cx="2679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LCS, edit distance, alignment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73152" cy="1600200"/>
          </a:xfrm>
          <a:prstGeom prst="rect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849624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33672"/>
            <a:ext cx="2679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Choose the best compatible jobs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70332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80" y="3703320"/>
            <a:ext cx="73152" cy="1600200"/>
          </a:xfrm>
          <a:prstGeom prst="rect">
            <a:avLst/>
          </a:prstGeom>
          <a:solidFill>
            <a:srgbClr val="FFC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3849624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4233672"/>
            <a:ext cx="2679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Portfolio / resource optimization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703320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3703320"/>
            <a:ext cx="73152" cy="1600200"/>
          </a:xfrm>
          <a:prstGeom prst="rect">
            <a:avLst/>
          </a:prstGeom>
          <a:solidFill>
            <a:srgbClr val="F5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53528" y="3849624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Bioinformatics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4233672"/>
            <a:ext cx="26791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Compare and align biological sequences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Strength: avoids repeated work • Limitation: can use significant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00400" cy="320040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212080"/>
            <a:ext cx="2286000" cy="228600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</a:defRPr>
            </a:pPr>
            <a:r>
              <a:rPr>
                <a:solidFill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rPr>
                <a:solidFill/>
              </a:rPr>
              <a:t>7. Advantages, Limitations &amp;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A quick comparison to close the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73152" cy="1920240"/>
          </a:xfrm>
          <a:prstGeom prst="rect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465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30552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✓ Faster than naive recursion</a:t>
            </a:r>
            <a:br/>
            <a:r>
              <a:rPr>
                <a:solidFill/>
              </a:rPr>
              <a:t>✓ Reuses computed results</a:t>
            </a:r>
            <a:br/>
            <a:r>
              <a:rPr>
                <a:solidFill/>
              </a:rPr>
              <a:t>✓ Gives optimal solutions for suitable problems</a:t>
            </a:r>
            <a:br/>
            <a:r>
              <a:rPr>
                <a:solidFill/>
              </a:rPr>
              <a:t>✓ Works well with many optimization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600200"/>
            <a:ext cx="73152" cy="1920240"/>
          </a:xfrm>
          <a:prstGeom prst="rect">
            <a:avLst/>
          </a:prstGeom>
          <a:solidFill>
            <a:srgbClr val="FF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465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30552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• Extra memory may be required</a:t>
            </a:r>
            <a:br/>
            <a:r>
              <a:rPr>
                <a:solidFill/>
              </a:rPr>
              <a:t>• State/transition can be difficult to design</a:t>
            </a:r>
            <a:br/>
            <a:r>
              <a:rPr>
                <a:solidFill/>
              </a:rPr>
              <a:t>• Not every problem has optimal substructure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002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600200"/>
            <a:ext cx="73152" cy="1920240"/>
          </a:xfrm>
          <a:prstGeom prst="rect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7465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30552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ED8"/>
                </a:solidFill>
                <a:latin typeface="Aptos"/>
              </a:defRPr>
            </a:pPr>
            <a:r>
              <a:rPr>
                <a:solidFill/>
              </a:rPr>
              <a:t>Typical table-based DP:</a:t>
            </a:r>
            <a:br/>
            <a:r>
              <a:rPr>
                <a:solidFill/>
              </a:rPr>
              <a:t>Time → O(number of states × transition cost)</a:t>
            </a:r>
            <a:br/>
            <a:r>
              <a:rPr>
                <a:solidFill/>
              </a:rPr>
              <a:t>Space → O(number of states)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DAD2"/>
                </a:solidFill>
                <a:latin typeface="Aptos"/>
              </a:defRPr>
            </a:pPr>
            <a:r>
              <a:rPr>
                <a:solidFill/>
              </a:rPr>
              <a:t>THE DP MINDSET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617720"/>
            <a:ext cx="960120" cy="960120"/>
          </a:xfrm>
          <a:prstGeom prst="ellipse">
            <a:avLst/>
          </a:prstGeom>
          <a:solidFill>
            <a:srgbClr val="41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86553"/>
            <a:ext cx="905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Break</a:t>
            </a:r>
          </a:p>
        </p:txBody>
      </p:sp>
      <p:sp>
        <p:nvSpPr>
          <p:cNvPr id="24" name="Oval 23"/>
          <p:cNvSpPr/>
          <p:nvPr/>
        </p:nvSpPr>
        <p:spPr>
          <a:xfrm>
            <a:off x="3383280" y="4617720"/>
            <a:ext cx="960120" cy="960120"/>
          </a:xfrm>
          <a:prstGeom prst="ellipse">
            <a:avLst/>
          </a:prstGeom>
          <a:solidFill>
            <a:srgbClr val="97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0712" y="4886553"/>
            <a:ext cx="905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Store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4617720"/>
            <a:ext cx="960120" cy="960120"/>
          </a:xfrm>
          <a:prstGeom prst="ellipse">
            <a:avLst/>
          </a:prstGeom>
          <a:solidFill>
            <a:srgbClr val="3D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2" y="4886553"/>
            <a:ext cx="905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Reuse</a:t>
            </a:r>
          </a:p>
        </p:txBody>
      </p:sp>
      <p:sp>
        <p:nvSpPr>
          <p:cNvPr id="28" name="Oval 27"/>
          <p:cNvSpPr/>
          <p:nvPr/>
        </p:nvSpPr>
        <p:spPr>
          <a:xfrm>
            <a:off x="8503920" y="4617720"/>
            <a:ext cx="960120" cy="960120"/>
          </a:xfrm>
          <a:prstGeom prst="ellipse">
            <a:avLst/>
          </a:prstGeom>
          <a:solidFill>
            <a:srgbClr val="48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4886553"/>
            <a:ext cx="905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Optimize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5102352"/>
            <a:ext cx="1508759" cy="0"/>
          </a:xfrm>
          <a:prstGeom prst="line">
            <a:avLst/>
          </a:prstGeom>
          <a:ln w="25400">
            <a:solidFill>
              <a:srgbClr val="B1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343400" y="5102352"/>
            <a:ext cx="1508760" cy="0"/>
          </a:xfrm>
          <a:prstGeom prst="line">
            <a:avLst/>
          </a:prstGeom>
          <a:ln w="25400">
            <a:solidFill>
              <a:srgbClr val="B1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03720" y="5102352"/>
            <a:ext cx="1508760" cy="0"/>
          </a:xfrm>
          <a:prstGeom prst="line">
            <a:avLst/>
          </a:prstGeom>
          <a:ln w="25400">
            <a:solidFill>
              <a:srgbClr val="B1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>
                <a:solidFill/>
              </a:rPr>
              <a:t>Key takeaway: define the state clearly, write the transition carefully, and let the table do the repeated work.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B9D"/>
                </a:solidFill>
                <a:latin typeface="Aptos"/>
              </a:defRPr>
            </a:pPr>
            <a:r>
              <a:rPr>
                <a:solidFill/>
              </a:rPr>
              <a:t>Dynamic Programming • Algorithm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